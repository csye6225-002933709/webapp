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8" r:id="rId4"/>
    <p:sldId id="260" r:id="rId5"/>
    <p:sldId id="261" r:id="rId6"/>
    <p:sldId id="281" r:id="rId7"/>
    <p:sldId id="272" r:id="rId8"/>
    <p:sldId id="276" r:id="rId9"/>
    <p:sldId id="270" r:id="rId10"/>
    <p:sldId id="273" r:id="rId11"/>
    <p:sldId id="275" r:id="rId12"/>
    <p:sldId id="262" r:id="rId13"/>
    <p:sldId id="279" r:id="rId14"/>
    <p:sldId id="280" r:id="rId15"/>
    <p:sldId id="277" r:id="rId16"/>
    <p:sldId id="271" r:id="rId17"/>
    <p:sldId id="278" r:id="rId18"/>
    <p:sldId id="274" r:id="rId19"/>
    <p:sldId id="258" r:id="rId20"/>
    <p:sldId id="26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39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674"/>
    <p:restoredTop sz="94681"/>
  </p:normalViewPr>
  <p:slideViewPr>
    <p:cSldViewPr snapToGrid="0">
      <p:cViewPr>
        <p:scale>
          <a:sx n="113" d="100"/>
          <a:sy n="113" d="100"/>
        </p:scale>
        <p:origin x="456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0065D-42D4-4350-9F30-FE707822F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3B1071-366D-9BE5-54C4-6937F822BF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8649C-0520-F47B-A658-6B4884760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D946-094C-E14B-880F-8B6940D86F8F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FBE62-BCB4-7A7C-81B8-9C3B80EDE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64F38-0807-026E-FEE4-CB7B358B5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6E188-04BD-9645-A099-FDB6DC30C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129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1E2F9-34B9-AAE1-25B8-0D75ABD61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F9FA3-8DF1-7EF1-9681-81A7AE718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2F8B6-97D8-6F1B-A04E-43B7FFC31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D946-094C-E14B-880F-8B6940D86F8F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E525C-2E74-6E1E-3BD0-3B144997D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8FDE3-9C37-FFC1-9101-CCE04933C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6E188-04BD-9645-A099-FDB6DC30C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719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022BB-1771-EDDE-4E57-7AAE2AF55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DF732-7858-D61F-3ECE-B6FFA1051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930E8-E0D7-1E94-F35E-F156A20D7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D946-094C-E14B-880F-8B6940D86F8F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42D24-CF71-5938-87B1-2C92F05AD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2A6B2-CB37-A2C6-A601-7F639DF3F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6E188-04BD-9645-A099-FDB6DC30C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965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C6730-445E-47BC-7201-EF5D141BD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9E25A-7399-D623-2688-800E9D023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D8B96-962E-920A-6DE4-62BE22A77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F6A63-E45C-4887-4089-6E4113A50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D946-094C-E14B-880F-8B6940D86F8F}" type="datetimeFigureOut">
              <a:rPr lang="en-US" smtClean="0"/>
              <a:t>8/11/25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CB645-17BB-857E-0BE6-5C7ACA4B3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47AE0-E45D-A279-E766-3F6C26A08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6E188-04BD-9645-A099-FDB6DC30C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588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FDAED-CF95-73D4-3E4D-B748CD12F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6A8FD-AA21-F624-8F66-6818FC3CC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8AC351-92FF-5694-52D0-7B89ACEF5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F89F50-9903-C735-3845-AEC7C1B18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E7E62A-9271-6FA0-23F9-D4B67E1765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59357C-63B2-2600-8D61-840143ED6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D946-094C-E14B-880F-8B6940D86F8F}" type="datetimeFigureOut">
              <a:rPr lang="en-US" smtClean="0"/>
              <a:t>8/11/25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C50898-23D0-F04D-0363-E071110E5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010C59-CB99-8FDB-94A7-EFA9FDE62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6E188-04BD-9645-A099-FDB6DC30C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437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635CF-5397-F34A-1F8F-7167D0F94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D0DCBC-25FC-4AF2-CA2E-89D1EFCD6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D946-094C-E14B-880F-8B6940D86F8F}" type="datetimeFigureOut">
              <a:rPr lang="en-US" smtClean="0"/>
              <a:t>8/11/25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7BC6AA-3BE4-0F6B-6741-B99C1A21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692683-B4DD-D810-4C91-3272FD0ED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6E188-04BD-9645-A099-FDB6DC30C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805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83EB69-5344-7C89-58E5-40DD2ACA4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D946-094C-E14B-880F-8B6940D86F8F}" type="datetimeFigureOut">
              <a:rPr lang="en-US" smtClean="0"/>
              <a:t>8/11/25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E1C704-8C15-A572-FBBC-61072CFC4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F84F1-B901-43CE-3F16-066FFB4D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6E188-04BD-9645-A099-FDB6DC30C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50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56C54-7AE4-CA99-8E9D-3857E8956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47B53-F2DD-5707-3FFA-A883F86E0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7AE3F-DF57-23E6-A090-CC8649E72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DFD6C9-95C7-6699-FD18-9F66C85CA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D946-094C-E14B-880F-8B6940D86F8F}" type="datetimeFigureOut">
              <a:rPr lang="en-US" smtClean="0"/>
              <a:t>8/11/25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E25EF-82C9-010F-A288-4FFBCBAD0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F2AA3-1961-6BCA-95BF-747B0BB6E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6E188-04BD-9645-A099-FDB6DC30C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087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F9871-9424-5279-83C5-4FC69D3F4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8B9277-AE1C-A1D2-9582-DC028FADF0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3B22E-2FE3-621C-81A0-8F68470A0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A5B28E-27AA-7110-CE10-D1B822BA3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D946-094C-E14B-880F-8B6940D86F8F}" type="datetimeFigureOut">
              <a:rPr lang="en-US" smtClean="0"/>
              <a:t>8/11/25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3FC1D-D250-4E38-E1D6-24289C524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49EEB-D83D-113A-1A2E-02C154C2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6E188-04BD-9645-A099-FDB6DC30C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377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A934A-A940-8825-4E70-ED5ACA05C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B60FEA-5B8B-A2D3-43AA-DCCD2D4B47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6667C-7265-D305-6597-E0A9FD2D9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D946-094C-E14B-880F-8B6940D86F8F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9E64E-9445-899B-69B0-F157A611C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8B87C-095D-604F-822A-41C28874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6E188-04BD-9645-A099-FDB6DC30C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185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94850E-82BA-FD37-EE5B-B63649DF8B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AA7F89-6A37-5FB4-22DB-7B88FA599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97187-D947-6DD8-2550-026A00AD2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5D946-094C-E14B-880F-8B6940D86F8F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11EC3-A66E-FB76-3CCA-41167EA38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0E867-42E8-1B54-8A64-8BD2CD7E4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6E188-04BD-9645-A099-FDB6DC30C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900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68BCA0-6ED4-41FA-5A66-7C1D808DD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ADD94-0954-1F5F-1406-7B471EBB2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B46EE-D1CC-C2AE-8642-50539416A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5D946-094C-E14B-880F-8B6940D86F8F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007DE-81A5-D5B8-DC8C-E8291DE846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78E5B-2535-B37E-3E62-248D7A2355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B6E188-04BD-9645-A099-FDB6DC30C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527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ideo 2" title="Computer Servers">
            <a:hlinkClick r:id="" action="ppaction://media"/>
            <a:extLst>
              <a:ext uri="{FF2B5EF4-FFF2-40B4-BE49-F238E27FC236}">
                <a16:creationId xmlns:a16="http://schemas.microsoft.com/office/drawing/2014/main" id="{1D796266-65C3-04B2-15E5-05AE9A2C1F8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B688A27-7240-0211-4FB4-EBA81099DFF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1539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86B474-7A44-42CB-0BCC-004B9047E3AA}"/>
              </a:ext>
            </a:extLst>
          </p:cNvPr>
          <p:cNvSpPr txBox="1"/>
          <p:nvPr/>
        </p:nvSpPr>
        <p:spPr>
          <a:xfrm>
            <a:off x="489284" y="2459504"/>
            <a:ext cx="51174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Cloud Application with CI/CD pipeline automation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By - 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Sai Dutt</a:t>
            </a:r>
            <a:br>
              <a:rPr lang="en-US" sz="2800" dirty="0">
                <a:solidFill>
                  <a:schemeClr val="bg1"/>
                </a:solidFill>
              </a:rPr>
            </a:b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Date – 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12th August 2025</a:t>
            </a:r>
          </a:p>
        </p:txBody>
      </p:sp>
      <p:pic>
        <p:nvPicPr>
          <p:cNvPr id="6" name="Picture 5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636E8774-B1FD-4423-9ED3-2FCB18E9AB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960" y="711726"/>
            <a:ext cx="1554080" cy="103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050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FFE28-E83E-95CA-8E79-D85B36615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EADF9-DA49-191E-28EA-8F8C16952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Canvas-like application that does the following – </a:t>
            </a:r>
          </a:p>
          <a:p>
            <a:pPr lvl="1"/>
            <a:r>
              <a:rPr lang="en-IN" dirty="0"/>
              <a:t>Takes GitHub link from user and verifies the timeliness of submission. </a:t>
            </a:r>
          </a:p>
          <a:p>
            <a:pPr lvl="1"/>
            <a:r>
              <a:rPr lang="en-IN" dirty="0"/>
              <a:t>If valid, store the assignment zip in a GCP bucket. Log the details in RDS.  </a:t>
            </a:r>
          </a:p>
          <a:p>
            <a:pPr lvl="1"/>
            <a:r>
              <a:rPr lang="en-IN" dirty="0"/>
              <a:t>Email the user the status and GCP bucket link. </a:t>
            </a:r>
          </a:p>
          <a:p>
            <a:pPr lvl="1"/>
            <a:r>
              <a:rPr lang="en-IN" dirty="0"/>
              <a:t>Ensure Load balancing and Auto Scaling. </a:t>
            </a:r>
          </a:p>
          <a:p>
            <a:pPr lvl="1"/>
            <a:r>
              <a:rPr lang="en-IN" dirty="0"/>
              <a:t>Ensure Continuous Deployment using GitHub Actions. </a:t>
            </a:r>
          </a:p>
        </p:txBody>
      </p:sp>
    </p:spTree>
    <p:extLst>
      <p:ext uri="{BB962C8B-B14F-4D97-AF65-F5344CB8AC3E}">
        <p14:creationId xmlns:p14="http://schemas.microsoft.com/office/powerpoint/2010/main" val="657522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1C224-039C-63DC-2DD9-DADADCFAE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Role &amp;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24305-6398-6870-7810-9D74C63CD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Project can be divided into 4 categories: </a:t>
            </a:r>
          </a:p>
          <a:p>
            <a:pPr lvl="1"/>
            <a:r>
              <a:rPr lang="en-US" dirty="0"/>
              <a:t>Backend application</a:t>
            </a:r>
          </a:p>
          <a:p>
            <a:pPr lvl="1"/>
            <a:r>
              <a:rPr lang="en-US" dirty="0"/>
              <a:t>GitHub Actions CI/CD</a:t>
            </a:r>
          </a:p>
          <a:p>
            <a:pPr lvl="1"/>
            <a:r>
              <a:rPr lang="en-US" dirty="0"/>
              <a:t>Infrastructure Code</a:t>
            </a:r>
          </a:p>
          <a:p>
            <a:pPr lvl="1"/>
            <a:r>
              <a:rPr lang="en-US" dirty="0"/>
              <a:t>Serverless code</a:t>
            </a:r>
          </a:p>
          <a:p>
            <a:r>
              <a:rPr lang="en-US" dirty="0"/>
              <a:t>My contribution – Solo project with the help of my Professor and teaching assistants (weekly meetings)</a:t>
            </a:r>
          </a:p>
          <a:p>
            <a:r>
              <a:rPr lang="en-IN" dirty="0"/>
              <a:t>Backend only.</a:t>
            </a:r>
          </a:p>
          <a:p>
            <a:r>
              <a:rPr lang="en-IN" dirty="0"/>
              <a:t>Tech Stack: Express.js, Debian, AWS, GCP, Pulumi(Typescript)</a:t>
            </a:r>
            <a:endParaRPr lang="en-US" dirty="0"/>
          </a:p>
          <a:p>
            <a:r>
              <a:rPr lang="en-US" dirty="0"/>
              <a:t>Time Spent – 12-14 weeks, 20 hours per week</a:t>
            </a:r>
          </a:p>
        </p:txBody>
      </p:sp>
    </p:spTree>
    <p:extLst>
      <p:ext uri="{BB962C8B-B14F-4D97-AF65-F5344CB8AC3E}">
        <p14:creationId xmlns:p14="http://schemas.microsoft.com/office/powerpoint/2010/main" val="592320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695D11-0E85-44A0-3E52-6F7DB9FDC4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4116" y="643466"/>
            <a:ext cx="6707100" cy="5568739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6424E18B-B7C0-2D28-E910-0DA5540FEB3F}"/>
              </a:ext>
            </a:extLst>
          </p:cNvPr>
          <p:cNvSpPr/>
          <p:nvPr/>
        </p:nvSpPr>
        <p:spPr>
          <a:xfrm>
            <a:off x="-2" y="0"/>
            <a:ext cx="4216528" cy="6875819"/>
          </a:xfrm>
          <a:prstGeom prst="rect">
            <a:avLst/>
          </a:prstGeom>
          <a:solidFill>
            <a:srgbClr val="15395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796E1E-CACA-E1A2-A672-4207FF004CE2}"/>
              </a:ext>
            </a:extLst>
          </p:cNvPr>
          <p:cNvSpPr txBox="1"/>
          <p:nvPr/>
        </p:nvSpPr>
        <p:spPr>
          <a:xfrm>
            <a:off x="463221" y="3166225"/>
            <a:ext cx="3290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System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2319898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774A1-6018-2153-97EA-74C01EC9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F1E3A-09C7-68C0-6DF3-610DF137C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APIs include CRUD operations; Verified parameters like deadline, and valid GitHub link. </a:t>
            </a:r>
          </a:p>
          <a:p>
            <a:r>
              <a:rPr lang="en-IN" dirty="0"/>
              <a:t>Robust API management with encryption and relevant error codes.</a:t>
            </a:r>
          </a:p>
          <a:p>
            <a:r>
              <a:rPr lang="en-IN" dirty="0"/>
              <a:t>Submission sent a message to SNS which triggered the Lambda. </a:t>
            </a:r>
          </a:p>
          <a:p>
            <a:r>
              <a:rPr lang="en-IN" dirty="0"/>
              <a:t>Sequelize ORM to communicate with MySQL database.</a:t>
            </a:r>
          </a:p>
          <a:p>
            <a:r>
              <a:rPr lang="en-IN" dirty="0"/>
              <a:t>Integration testing using Chai framework. </a:t>
            </a:r>
          </a:p>
          <a:p>
            <a:r>
              <a:rPr lang="en-IN" dirty="0"/>
              <a:t>API Load testing done with Postman to ensure 3-5% CPU utilization. </a:t>
            </a:r>
          </a:p>
        </p:txBody>
      </p:sp>
    </p:spTree>
    <p:extLst>
      <p:ext uri="{BB962C8B-B14F-4D97-AF65-F5344CB8AC3E}">
        <p14:creationId xmlns:p14="http://schemas.microsoft.com/office/powerpoint/2010/main" val="2601847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16798-09AD-95BE-B525-F928CA094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AD7BF-B4C4-9546-94B4-8BD5AF56E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Dive : Error codes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1A0BD08-6E02-168D-A0BF-60DF4CAADC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4111890"/>
              </p:ext>
            </p:extLst>
          </p:nvPr>
        </p:nvGraphicFramePr>
        <p:xfrm>
          <a:off x="838200" y="1690688"/>
          <a:ext cx="10515597" cy="4853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60173351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8806698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407013784"/>
                    </a:ext>
                  </a:extLst>
                </a:gridCol>
              </a:tblGrid>
              <a:tr h="367665">
                <a:tc>
                  <a:txBody>
                    <a:bodyPr/>
                    <a:lstStyle/>
                    <a:p>
                      <a:r>
                        <a:rPr lang="en-US" dirty="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897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 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Request succeeded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Getting data or performing an action that didn't create a new resource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223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201 Created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Request succeeded and created a new resource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Often includes a Location header to the new resource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102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400 Bad 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Sent request was malformed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E.g., missing parameters or invalid fields—client error.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70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401 </a:t>
                      </a:r>
                      <a:r>
                        <a:rPr lang="en-IN" dirty="0"/>
                        <a:t>Unauthorized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Access requires authentication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Credentials are missing or invalid.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404 </a:t>
                      </a:r>
                      <a:r>
                        <a:rPr lang="en-IN" dirty="0"/>
                        <a:t>Not Found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Resource not found on the server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Request endpoint or data doesn’t exist.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951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500 </a:t>
                      </a:r>
                      <a:r>
                        <a:rPr lang="en-IN" dirty="0"/>
                        <a:t>Internal Server Error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Unknown server error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Used when the server encounters an unexpected condition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5609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503 </a:t>
                      </a:r>
                      <a:r>
                        <a:rPr lang="en-IN" dirty="0"/>
                        <a:t>Service Unavailable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Server temporarily can't handle request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Used when service is down or overloaded; retry later.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940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1379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410BB-95FA-2EE3-4E12-6C44DD3A4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faced &amp; 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F7D75-3C4E-6049-E636-ADF1FBCC5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Syncing instance usage details with Cloud Watch. </a:t>
            </a:r>
          </a:p>
          <a:p>
            <a:r>
              <a:rPr lang="en-IN" dirty="0"/>
              <a:t>Fine-tuning </a:t>
            </a:r>
            <a:r>
              <a:rPr lang="en-IN" b="1" dirty="0"/>
              <a:t>error handling</a:t>
            </a:r>
            <a:r>
              <a:rPr lang="en-IN" dirty="0"/>
              <a:t> to ensure proper HTTP codes.</a:t>
            </a:r>
          </a:p>
          <a:p>
            <a:pPr marL="0" indent="0">
              <a:buNone/>
            </a:pPr>
            <a:r>
              <a:rPr lang="en-IN" dirty="0"/>
              <a:t>---</a:t>
            </a:r>
          </a:p>
          <a:p>
            <a:r>
              <a:rPr lang="en-US" dirty="0"/>
              <a:t>Principles like clean code, DRY, and YAGNI allowed for a smoother development process. </a:t>
            </a:r>
          </a:p>
          <a:p>
            <a:r>
              <a:rPr lang="en-IN" dirty="0"/>
              <a:t>Strong input validation and error propagation improve maintainability and observability.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571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BF14A5-2903-113F-73A7-01FE4693D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FE5D0-DFFD-5A92-F4D4-C96F61DE7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2" y="372498"/>
            <a:ext cx="3455821" cy="1008387"/>
          </a:xfrm>
        </p:spPr>
        <p:txBody>
          <a:bodyPr anchor="b">
            <a:normAutofit/>
          </a:bodyPr>
          <a:lstStyle/>
          <a:p>
            <a:r>
              <a:rPr lang="en-US" sz="3200" dirty="0"/>
              <a:t>GitHub Actions CI/CD</a:t>
            </a:r>
          </a:p>
        </p:txBody>
      </p:sp>
      <p:pic>
        <p:nvPicPr>
          <p:cNvPr id="5" name="Content Placeholder 4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A4E0DB32-B703-CC57-59D4-369C9C9C4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8527" y="523590"/>
            <a:ext cx="3661922" cy="581082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06422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113BD-E21F-7E1B-AAB3-E7CB933E2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177194"/>
            <a:ext cx="3455821" cy="1124017"/>
          </a:xfrm>
        </p:spPr>
        <p:txBody>
          <a:bodyPr anchor="b">
            <a:normAutofit/>
          </a:bodyPr>
          <a:lstStyle/>
          <a:p>
            <a:r>
              <a:rPr lang="en-US" sz="3200" dirty="0"/>
              <a:t>GitHub Actions CI/CD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00362-2F3F-396F-BFC5-9ADFFB105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1716421"/>
            <a:ext cx="3455821" cy="4264887"/>
          </a:xfrm>
        </p:spPr>
        <p:txBody>
          <a:bodyPr anchor="t">
            <a:normAutofit/>
          </a:bodyPr>
          <a:lstStyle/>
          <a:p>
            <a:r>
              <a:rPr lang="en-US" sz="2000" dirty="0"/>
              <a:t>Two workflows: </a:t>
            </a:r>
          </a:p>
          <a:p>
            <a:pPr lvl="1"/>
            <a:r>
              <a:rPr lang="en-US" sz="1600" dirty="0"/>
              <a:t>CI – On push and pull request events</a:t>
            </a:r>
          </a:p>
          <a:p>
            <a:pPr lvl="1"/>
            <a:r>
              <a:rPr lang="en-US" sz="1600" dirty="0"/>
              <a:t>AMI – On Pull request merged.</a:t>
            </a:r>
          </a:p>
          <a:p>
            <a:r>
              <a:rPr lang="en-US" sz="2000" dirty="0"/>
              <a:t>CI plan achieves Continuous Integration while AMI plan achieves Continuous Deployment. </a:t>
            </a:r>
          </a:p>
          <a:p>
            <a:r>
              <a:rPr lang="en-US" sz="2000" dirty="0"/>
              <a:t>It uses packer to build an Amazon Machine Image (AMI) and does an “instance refresh”.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9A3BB802-C2BF-BFCF-9B62-EAE814B79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2" y="1301211"/>
            <a:ext cx="6389346" cy="426488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45497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52CF0-0B53-A587-F396-E000607B6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814C2-69EA-52C3-1551-A79817306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faced &amp; 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9EEF3-29E0-9783-2747-DDC4E6086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Lack of local execution slowed down progress. </a:t>
            </a:r>
          </a:p>
          <a:p>
            <a:r>
              <a:rPr lang="en-IN" dirty="0"/>
              <a:t>Managing sensitive details like API keys. </a:t>
            </a:r>
          </a:p>
          <a:p>
            <a:pPr marL="0" indent="0">
              <a:buNone/>
            </a:pPr>
            <a:r>
              <a:rPr lang="en-IN" dirty="0"/>
              <a:t>---</a:t>
            </a:r>
          </a:p>
          <a:p>
            <a:r>
              <a:rPr lang="en-IN" dirty="0"/>
              <a:t>Enforce declarative validation and gating in CI (GitOps approach)</a:t>
            </a:r>
            <a:endParaRPr lang="en-US" dirty="0"/>
          </a:p>
          <a:p>
            <a:r>
              <a:rPr lang="en-US" dirty="0"/>
              <a:t>Use of GitHub secrets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680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94A41D-BD70-AB32-7668-F58EB9C45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906BC-4B32-05D9-CAC1-1195B7CC0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20126"/>
            <a:ext cx="3806729" cy="30723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Infrastructure as Code using Pulumi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15AEEB-BDCB-67AE-548E-6F527F5D6F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4929" y="211983"/>
            <a:ext cx="7535514" cy="625655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1E4E172-1EA7-E251-8265-AD4D673154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36EE4C1-7905-4652-A645-D2C3112E2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B2D6870-BDC0-AE8B-A7F5-D570327D12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14107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5025-3635-938D-7514-060397CEE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Infrastructure as Code using Pulumi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5E93D-2ED9-1D12-6A16-04F181DBD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Used Pulumi (Typescript) Async programming to construct AWS infrastructure. </a:t>
            </a:r>
          </a:p>
          <a:p>
            <a:r>
              <a:rPr lang="en-IN" dirty="0"/>
              <a:t>Here is how the infrastructure is used – </a:t>
            </a:r>
          </a:p>
          <a:p>
            <a:pPr lvl="1"/>
            <a:r>
              <a:rPr lang="en-IN" dirty="0"/>
              <a:t>VPC is connected to the internet through the Internet Gateway. </a:t>
            </a:r>
          </a:p>
          <a:p>
            <a:pPr lvl="1"/>
            <a:r>
              <a:rPr lang="en-IN" dirty="0"/>
              <a:t>Load balancer distributes requests (HTTPS only) across EC2 instances.</a:t>
            </a:r>
          </a:p>
          <a:p>
            <a:pPr lvl="1"/>
            <a:r>
              <a:rPr lang="en-IN" dirty="0"/>
              <a:t>EC2 instance(s) are created with a launch template and AMI. It accepts requests only from Load balancer. </a:t>
            </a:r>
          </a:p>
          <a:p>
            <a:pPr lvl="1"/>
            <a:r>
              <a:rPr lang="en-IN" dirty="0"/>
              <a:t>An RDS instance is created. It accepts requests only from EC2. </a:t>
            </a:r>
          </a:p>
          <a:p>
            <a:pPr lvl="1"/>
            <a:r>
              <a:rPr lang="en-IN" dirty="0"/>
              <a:t>CloudWatch connects with Auto-scaling to scale based on 3-5% CPU utilization</a:t>
            </a:r>
          </a:p>
          <a:p>
            <a:pPr lvl="1"/>
            <a:r>
              <a:rPr lang="en-IN" dirty="0"/>
              <a:t>IAM roles allows CloudWatch to access EC2 metrics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0790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8653D-8E72-30DC-A339-DD3CB404A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dive : Networking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3DD7A-A8AB-3B93-ACEA-445EA4956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Public subnet hosts the load balancer; private subnets host compute and database. </a:t>
            </a:r>
          </a:p>
          <a:p>
            <a:r>
              <a:rPr lang="en-IN" dirty="0"/>
              <a:t>Load Balancer SG: allows inbound </a:t>
            </a:r>
            <a:r>
              <a:rPr lang="en-IN" b="1" dirty="0"/>
              <a:t>HTTPS (443)</a:t>
            </a:r>
            <a:r>
              <a:rPr lang="en-IN" dirty="0"/>
              <a:t> from the internet</a:t>
            </a:r>
          </a:p>
          <a:p>
            <a:r>
              <a:rPr lang="en-IN" dirty="0"/>
              <a:t>App SG: allows </a:t>
            </a:r>
            <a:r>
              <a:rPr lang="en-IN" b="1" dirty="0"/>
              <a:t>HTTP (8080)</a:t>
            </a:r>
            <a:r>
              <a:rPr lang="en-IN" dirty="0"/>
              <a:t> only from ALB SG.</a:t>
            </a:r>
          </a:p>
          <a:p>
            <a:r>
              <a:rPr lang="en-IN" dirty="0"/>
              <a:t>DB SG: permits </a:t>
            </a:r>
            <a:r>
              <a:rPr lang="en-IN" b="1" dirty="0"/>
              <a:t>DB port (3306)</a:t>
            </a:r>
            <a:r>
              <a:rPr lang="en-IN" dirty="0"/>
              <a:t> only from App SG.</a:t>
            </a:r>
          </a:p>
          <a:p>
            <a:r>
              <a:rPr lang="en-IN" dirty="0"/>
              <a:t>EC2 and Lambda enforce IAM roles (e.g., CloudWatch write, DynamoDB access) to prevent misuse.</a:t>
            </a:r>
          </a:p>
        </p:txBody>
      </p:sp>
    </p:spTree>
    <p:extLst>
      <p:ext uri="{BB962C8B-B14F-4D97-AF65-F5344CB8AC3E}">
        <p14:creationId xmlns:p14="http://schemas.microsoft.com/office/powerpoint/2010/main" val="559000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5BCB8-3381-0B09-8A16-EDB516180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2BA87-1DE9-2E94-DD6E-A49222B31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dive : Networking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B7CD0-C73B-4F3A-E865-E90994F01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Choose a server location for the VPC, i.e. us-east-1.</a:t>
            </a:r>
          </a:p>
          <a:p>
            <a:r>
              <a:rPr lang="en-IN" dirty="0"/>
              <a:t>Define an IPv4 CIDR (e.g., /16); all subnets exist within it. </a:t>
            </a:r>
          </a:p>
          <a:p>
            <a:r>
              <a:rPr lang="en-IN" dirty="0"/>
              <a:t>Subnet sizes range /28 to /16.</a:t>
            </a:r>
          </a:p>
          <a:p>
            <a:r>
              <a:rPr lang="en-IN" dirty="0"/>
              <a:t>Actual usable IPs = 2^(32-prefix) − 5</a:t>
            </a:r>
          </a:p>
          <a:p>
            <a:r>
              <a:rPr lang="en-IN" dirty="0"/>
              <a:t>10.0.1.0/24 for public, 10.0.2.0/24 for private, per AZ—clear, scalable, and resilient.</a:t>
            </a:r>
          </a:p>
        </p:txBody>
      </p:sp>
    </p:spTree>
    <p:extLst>
      <p:ext uri="{BB962C8B-B14F-4D97-AF65-F5344CB8AC3E}">
        <p14:creationId xmlns:p14="http://schemas.microsoft.com/office/powerpoint/2010/main" val="1878630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06E77-706A-2ECA-0F91-284535DB6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C76EF-E862-3C75-2084-03010D308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faced &amp; 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9115B-1497-804B-1B4D-DB1235E12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Selecting from the various AWS services.  </a:t>
            </a:r>
          </a:p>
          <a:p>
            <a:r>
              <a:rPr lang="en-IN" dirty="0"/>
              <a:t>Connecting cloud details with the application.</a:t>
            </a:r>
          </a:p>
          <a:p>
            <a:r>
              <a:rPr lang="en-US" dirty="0"/>
              <a:t>Managing async script execution and </a:t>
            </a:r>
            <a:r>
              <a:rPr lang="en-IN" dirty="0"/>
              <a:t>complexity in debugging failed deployments.</a:t>
            </a:r>
          </a:p>
          <a:p>
            <a:pPr marL="0" indent="0">
              <a:buNone/>
            </a:pPr>
            <a:r>
              <a:rPr lang="en-US" dirty="0"/>
              <a:t>---</a:t>
            </a:r>
          </a:p>
          <a:p>
            <a:r>
              <a:rPr lang="en-IN" dirty="0"/>
              <a:t>Careful management of private keys and policy checks to catch misconfiguration and enforce secure defaults.</a:t>
            </a:r>
          </a:p>
          <a:p>
            <a:r>
              <a:rPr lang="en-IN" dirty="0"/>
              <a:t>Version all infrastructure changes, enabling reproducible deployments.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832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D3DE44-C370-3CDC-3543-D83CFEF5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09" y="679731"/>
            <a:ext cx="4171994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Lambda instance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cloud computing system&#10;&#10;AI-generated content may be incorrect.">
            <a:extLst>
              <a:ext uri="{FF2B5EF4-FFF2-40B4-BE49-F238E27FC236}">
                <a16:creationId xmlns:a16="http://schemas.microsoft.com/office/drawing/2014/main" id="{3BC31A87-6870-35F3-70F7-8FAE3993AC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13029" y="557360"/>
            <a:ext cx="4463916" cy="563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87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5F01F-29B8-FCF7-3917-62E2AEAA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A2FB0-66C6-86B5-C2C4-ED9B99236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instance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4B5A2-46DA-0D64-3065-EB50F0492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Fetches GitHub assignment in a Zip format. </a:t>
            </a:r>
          </a:p>
          <a:p>
            <a:r>
              <a:rPr lang="en-US" dirty="0"/>
              <a:t>Stores it in Google Storage Bucket. </a:t>
            </a:r>
          </a:p>
          <a:p>
            <a:r>
              <a:rPr lang="en-US" dirty="0"/>
              <a:t>Records successful storage or failure in DynamoDB.</a:t>
            </a:r>
          </a:p>
          <a:p>
            <a:r>
              <a:rPr lang="en-US" dirty="0"/>
              <a:t>Emails user with Google storage bucket link using Mailgun.</a:t>
            </a:r>
          </a:p>
        </p:txBody>
      </p:sp>
    </p:spTree>
    <p:extLst>
      <p:ext uri="{BB962C8B-B14F-4D97-AF65-F5344CB8AC3E}">
        <p14:creationId xmlns:p14="http://schemas.microsoft.com/office/powerpoint/2010/main" val="310253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C32AE-3056-C1AC-9DD0-01B5B01D2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A0358-3A03-FF32-D2DC-E39E3D034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faced &amp; 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51FCE-ED55-1FFD-7E56-7F9DA3824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Mailgun and cross-vendor integration using Google Cloud Storage bucket. </a:t>
            </a:r>
          </a:p>
          <a:p>
            <a:r>
              <a:rPr lang="en-IN" dirty="0"/>
              <a:t>Required setting up secure credentials and environment variables across platforms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---</a:t>
            </a:r>
          </a:p>
          <a:p>
            <a:r>
              <a:rPr lang="en-IN" dirty="0"/>
              <a:t>Enforce declarative validation and gating in CI (GitOps approach)</a:t>
            </a:r>
            <a:endParaRPr lang="en-US" dirty="0"/>
          </a:p>
          <a:p>
            <a:r>
              <a:rPr lang="en-US" dirty="0"/>
              <a:t>Use of GitHub secrets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003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A526D-8C18-CD99-22C6-5D79F81D2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This Project is Relevant?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09F7B-55FD-C187-EBD2-6A0C67AB9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Robust application development with integration and load testing. </a:t>
            </a:r>
          </a:p>
          <a:p>
            <a:r>
              <a:rPr lang="en-IN" dirty="0"/>
              <a:t>Experience with system management through Bash scripting and SystemD.</a:t>
            </a:r>
          </a:p>
          <a:p>
            <a:r>
              <a:rPr lang="en-IN" dirty="0"/>
              <a:t>Hands-on experience with Cloud technologies like AWS, and GCP </a:t>
            </a:r>
          </a:p>
          <a:p>
            <a:r>
              <a:rPr lang="en-IN" dirty="0"/>
              <a:t>Ensured security through security groups, encryption, and access management. </a:t>
            </a:r>
          </a:p>
          <a:p>
            <a:r>
              <a:rPr lang="en-IN" dirty="0"/>
              <a:t>Gained familiarity with CI/CD code used in systems like GitHub Actions, Jenkins and Bamboo.</a:t>
            </a:r>
          </a:p>
        </p:txBody>
      </p:sp>
    </p:spTree>
    <p:extLst>
      <p:ext uri="{BB962C8B-B14F-4D97-AF65-F5344CB8AC3E}">
        <p14:creationId xmlns:p14="http://schemas.microsoft.com/office/powerpoint/2010/main" val="1511675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5BF674-0425-89C1-2D51-1A1F78119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7906EE-E674-44B6-5F6B-D7C0DECD2222}"/>
              </a:ext>
            </a:extLst>
          </p:cNvPr>
          <p:cNvSpPr txBox="1"/>
          <p:nvPr/>
        </p:nvSpPr>
        <p:spPr>
          <a:xfrm>
            <a:off x="2059180" y="3167390"/>
            <a:ext cx="19776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Thank you !</a:t>
            </a:r>
          </a:p>
        </p:txBody>
      </p:sp>
      <p:pic>
        <p:nvPicPr>
          <p:cNvPr id="3" name="Picture 2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46F5ED72-6E72-1A65-14C0-7316EF8BC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586" y="1841500"/>
            <a:ext cx="3175000" cy="317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AD7BD0-551E-B8E1-3160-04EEDACD9460}"/>
              </a:ext>
            </a:extLst>
          </p:cNvPr>
          <p:cNvSpPr txBox="1"/>
          <p:nvPr/>
        </p:nvSpPr>
        <p:spPr>
          <a:xfrm>
            <a:off x="7276699" y="5207267"/>
            <a:ext cx="4312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https://github.com/CSYE6225-002933709</a:t>
            </a:r>
          </a:p>
        </p:txBody>
      </p:sp>
    </p:spTree>
    <p:extLst>
      <p:ext uri="{BB962C8B-B14F-4D97-AF65-F5344CB8AC3E}">
        <p14:creationId xmlns:p14="http://schemas.microsoft.com/office/powerpoint/2010/main" val="2787312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1515</TotalTime>
  <Words>962</Words>
  <Application>Microsoft Macintosh PowerPoint</Application>
  <PresentationFormat>Widescreen</PresentationFormat>
  <Paragraphs>120</Paragraphs>
  <Slides>20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Project overview </vt:lpstr>
      <vt:lpstr>Project Role &amp; Scope</vt:lpstr>
      <vt:lpstr>PowerPoint Presentation</vt:lpstr>
      <vt:lpstr>Web application</vt:lpstr>
      <vt:lpstr>Deep Dive : Error codes</vt:lpstr>
      <vt:lpstr>Challenges faced &amp; Lessons learned</vt:lpstr>
      <vt:lpstr>GitHub Actions CI/CD</vt:lpstr>
      <vt:lpstr>GitHub Actions CI/CD </vt:lpstr>
      <vt:lpstr>Challenges faced &amp; Lessons learned</vt:lpstr>
      <vt:lpstr>Infrastructure as Code using Pulumi</vt:lpstr>
      <vt:lpstr>Infrastructure as Code using Pulumi</vt:lpstr>
      <vt:lpstr>Deep dive : Networking</vt:lpstr>
      <vt:lpstr>Deep dive : Networking</vt:lpstr>
      <vt:lpstr>Challenges faced &amp; Lessons learned</vt:lpstr>
      <vt:lpstr>Lambda instance</vt:lpstr>
      <vt:lpstr>Lambda instance</vt:lpstr>
      <vt:lpstr>Challenges faced &amp; Lessons learned</vt:lpstr>
      <vt:lpstr>Why This Project is Relevant?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FNU Sai Dutt</dc:creator>
  <cp:lastModifiedBy>FNU Sai Dutt</cp:lastModifiedBy>
  <cp:revision>27</cp:revision>
  <dcterms:created xsi:type="dcterms:W3CDTF">2025-08-08T04:49:46Z</dcterms:created>
  <dcterms:modified xsi:type="dcterms:W3CDTF">2025-08-11T16:59:07Z</dcterms:modified>
</cp:coreProperties>
</file>